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Fira Sans Bold" charset="1" panose="020B0803050000020004"/>
      <p:regular r:id="rId12"/>
    </p:embeddedFont>
    <p:embeddedFont>
      <p:font typeface="Helios Extended" charset="1" panose="02000505040000020004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  <p:embeddedFont>
      <p:font typeface="Fira Sans" charset="1" panose="020B0503050000020004"/>
      <p:regular r:id="rId16"/>
    </p:embeddedFont>
    <p:embeddedFont>
      <p:font typeface="Fira Sans Light" charset="1" panose="020B040305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kshara-1/Visualizing_No_Cloning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1690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0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90825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66200"/>
            <a:chOff x="0" y="0"/>
            <a:chExt cx="1614733" cy="2013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4733" cy="2013248"/>
            </a:xfrm>
            <a:custGeom>
              <a:avLst/>
              <a:gdLst/>
              <a:ahLst/>
              <a:cxnLst/>
              <a:rect r="r" b="b" t="t" l="l"/>
              <a:pathLst>
                <a:path h="2013248" w="1614733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097862" y="0"/>
            <a:ext cx="190138" cy="10287000"/>
            <a:chOff x="0" y="0"/>
            <a:chExt cx="50077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077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71504" y="1028700"/>
            <a:ext cx="9812979" cy="7549841"/>
            <a:chOff x="0" y="0"/>
            <a:chExt cx="13083971" cy="100664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004880"/>
              <a:ext cx="13083971" cy="4061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2"/>
                </a:lnSpc>
              </a:pPr>
              <a:r>
                <a:rPr lang="en-US" sz="2509" b="true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Team Name: Observers</a:t>
              </a:r>
            </a:p>
            <a:p>
              <a:pPr algn="l">
                <a:lnSpc>
                  <a:spcPts val="3512"/>
                </a:lnSpc>
              </a:pPr>
            </a:p>
            <a:p>
              <a:pPr algn="l">
                <a:lnSpc>
                  <a:spcPts val="3512"/>
                </a:lnSpc>
              </a:pPr>
              <a:r>
                <a:rPr lang="en-US" sz="2509" b="true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Team Members:</a:t>
              </a:r>
            </a:p>
            <a:p>
              <a:pPr algn="l">
                <a:lnSpc>
                  <a:spcPts val="3512"/>
                </a:lnSpc>
              </a:pPr>
              <a:r>
                <a:rPr lang="en-US" sz="2509" b="true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     Akshayasri Baskar II CSE </a:t>
              </a:r>
            </a:p>
            <a:p>
              <a:pPr algn="l">
                <a:lnSpc>
                  <a:spcPts val="3512"/>
                </a:lnSpc>
              </a:pPr>
              <a:r>
                <a:rPr lang="en-US" sz="2509" b="true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     Shihana T II BSc Physics Hons   </a:t>
              </a:r>
            </a:p>
            <a:p>
              <a:pPr algn="l">
                <a:lnSpc>
                  <a:spcPts val="3512"/>
                </a:lnSpc>
              </a:pPr>
              <a:r>
                <a:rPr lang="en-US" sz="2509" b="true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     Hridya J S II BSc Physics Hons</a:t>
              </a:r>
            </a:p>
            <a:p>
              <a:pPr algn="l" marL="0" indent="0" lvl="0">
                <a:lnSpc>
                  <a:spcPts val="3512"/>
                </a:lnSpc>
              </a:pPr>
              <a:r>
                <a:rPr lang="en-US" b="true" sz="2509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     Ardhra V S II BSc Physics Hons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8575"/>
              <a:ext cx="13083971" cy="5307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63"/>
                </a:lnSpc>
              </a:pPr>
              <a:r>
                <a:rPr lang="en-US" sz="9330">
                  <a:solidFill>
                    <a:srgbClr val="23B7A7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Visualizing the No-Cloning Theorem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8098225" y="0"/>
            <a:ext cx="189775" cy="10287000"/>
            <a:chOff x="0" y="0"/>
            <a:chExt cx="499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9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982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15705"/>
            <a:ext cx="9147938" cy="259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12"/>
              </a:lnSpc>
              <a:spcBef>
                <a:spcPct val="0"/>
              </a:spcBef>
            </a:pPr>
            <a:r>
              <a:rPr lang="en-US" sz="9011">
                <a:solidFill>
                  <a:srgbClr val="23B7A7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Problem Identification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424093"/>
            <a:ext cx="13871882" cy="38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2900" indent="-261450" lvl="1">
              <a:lnSpc>
                <a:spcPts val="3390"/>
              </a:lnSpc>
              <a:buFont typeface="Arial"/>
              <a:buChar char="•"/>
            </a:pPr>
            <a:r>
              <a:rPr lang="en-US" b="true" sz="2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Challenge: </a:t>
            </a:r>
            <a:r>
              <a:rPr lang="en-US" sz="2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classical networks, </a:t>
            </a:r>
            <a:r>
              <a:rPr lang="en-US" sz="2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can be copied and intercepted without leaving any physical trace or alert.</a:t>
            </a:r>
          </a:p>
          <a:p>
            <a:pPr algn="just">
              <a:lnSpc>
                <a:spcPts val="3390"/>
              </a:lnSpc>
            </a:pPr>
          </a:p>
          <a:p>
            <a:pPr algn="just" marL="522900" indent="-261450" lvl="1">
              <a:lnSpc>
                <a:spcPts val="3390"/>
              </a:lnSpc>
              <a:buFont typeface="Arial"/>
              <a:buChar char="•"/>
            </a:pPr>
            <a:r>
              <a:rPr lang="en-US" b="true" sz="2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Quantum Edge:</a:t>
            </a:r>
            <a:r>
              <a:rPr lang="en-US" sz="2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 utilize the No-Cloning Theorem, which dictates that an "unknown" quantum state cannot be copied without being physically altered</a:t>
            </a:r>
          </a:p>
          <a:p>
            <a:pPr algn="just">
              <a:lnSpc>
                <a:spcPts val="3390"/>
              </a:lnSpc>
            </a:pPr>
          </a:p>
          <a:p>
            <a:pPr algn="just" marL="522900" indent="-261450" lvl="1">
              <a:lnSpc>
                <a:spcPts val="3390"/>
              </a:lnSpc>
              <a:buFont typeface="Arial"/>
              <a:buChar char="•"/>
            </a:pPr>
            <a:r>
              <a:rPr lang="en-US" b="true" sz="24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</a:t>
            </a:r>
            <a:r>
              <a:rPr lang="en-US" sz="2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build a self-auditing communication channel that automatically detects eavesdropping</a:t>
            </a:r>
          </a:p>
          <a:p>
            <a:pPr algn="just">
              <a:lnSpc>
                <a:spcPts val="339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816113" y="1801695"/>
            <a:ext cx="9282112" cy="3341805"/>
            <a:chOff x="0" y="0"/>
            <a:chExt cx="6115192" cy="2201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15192" cy="2201630"/>
            </a:xfrm>
            <a:custGeom>
              <a:avLst/>
              <a:gdLst/>
              <a:ahLst/>
              <a:cxnLst/>
              <a:rect r="r" b="b" t="t" l="l"/>
              <a:pathLst>
                <a:path h="2201630" w="6115192">
                  <a:moveTo>
                    <a:pt x="0" y="0"/>
                  </a:moveTo>
                  <a:lnTo>
                    <a:pt x="6115192" y="0"/>
                  </a:lnTo>
                  <a:lnTo>
                    <a:pt x="6115192" y="2201630"/>
                  </a:lnTo>
                  <a:lnTo>
                    <a:pt x="0" y="2201630"/>
                  </a:lnTo>
                  <a:close/>
                </a:path>
              </a:pathLst>
            </a:custGeom>
            <a:blipFill>
              <a:blip r:embed="rId2"/>
              <a:stretch>
                <a:fillRect l="0" t="-517" r="0" b="-51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23B7A7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9407126" y="2099107"/>
            <a:ext cx="8747959" cy="6088786"/>
            <a:chOff x="0" y="0"/>
            <a:chExt cx="2892499" cy="2013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92499" cy="2013248"/>
            </a:xfrm>
            <a:custGeom>
              <a:avLst/>
              <a:gdLst/>
              <a:ahLst/>
              <a:cxnLst/>
              <a:rect r="r" b="b" t="t" l="l"/>
              <a:pathLst>
                <a:path h="2013248" w="2892499">
                  <a:moveTo>
                    <a:pt x="0" y="0"/>
                  </a:moveTo>
                  <a:lnTo>
                    <a:pt x="2892499" y="0"/>
                  </a:lnTo>
                  <a:lnTo>
                    <a:pt x="2892499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-12144" t="0" r="-1214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0" y="0"/>
            <a:ext cx="189775" cy="10287000"/>
            <a:chOff x="0" y="0"/>
            <a:chExt cx="49982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9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982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9756" y="1145758"/>
            <a:ext cx="9786976" cy="7995484"/>
            <a:chOff x="0" y="0"/>
            <a:chExt cx="13049301" cy="1066064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575"/>
              <a:ext cx="11099800" cy="159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23B7A7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Objectives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85975"/>
              <a:ext cx="11099800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3B7A7"/>
                  </a:solidFill>
                  <a:latin typeface="Fira Sans"/>
                  <a:ea typeface="Fira Sans"/>
                  <a:cs typeface="Fira Sans"/>
                  <a:sym typeface="Fira Sans"/>
                </a:rPr>
                <a:t>Key Objectives and Limitations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184525"/>
              <a:ext cx="13049301" cy="74761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9698" indent="-274849" lvl="1">
                <a:lnSpc>
                  <a:spcPts val="4073"/>
                </a:lnSpc>
                <a:buFont typeface="Arial"/>
                <a:buChar char="•"/>
              </a:pPr>
              <a:r>
                <a:rPr lang="en-US" b="true" sz="2546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Objective: </a:t>
              </a:r>
              <a:r>
                <a:rPr lang="en-US" sz="2546">
                  <a:solidFill>
                    <a:srgbClr val="1D495D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Prove cloning is impossible </a:t>
              </a:r>
            </a:p>
            <a:p>
              <a:pPr algn="l">
                <a:lnSpc>
                  <a:spcPts val="4073"/>
                </a:lnSpc>
              </a:pPr>
            </a:p>
            <a:p>
              <a:pPr algn="l" marL="549698" indent="-274849" lvl="1">
                <a:lnSpc>
                  <a:spcPts val="4073"/>
                </a:lnSpc>
                <a:buFont typeface="Arial"/>
                <a:buChar char="•"/>
              </a:pPr>
              <a:r>
                <a:rPr lang="en-US" b="true" sz="2546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Mechanism:</a:t>
              </a:r>
              <a:r>
                <a:rPr lang="en-US" sz="2546">
                  <a:solidFill>
                    <a:srgbClr val="1D495D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Eve's CNOT interaction</a:t>
              </a:r>
            </a:p>
            <a:p>
              <a:pPr algn="l">
                <a:lnSpc>
                  <a:spcPts val="4073"/>
                </a:lnSpc>
              </a:pPr>
            </a:p>
            <a:p>
              <a:pPr algn="l" marL="549698" indent="-274849" lvl="1">
                <a:lnSpc>
                  <a:spcPts val="4073"/>
                </a:lnSpc>
                <a:buFont typeface="Arial"/>
                <a:buChar char="•"/>
              </a:pPr>
              <a:r>
                <a:rPr lang="en-US" b="true" sz="2546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Success Metric: </a:t>
              </a:r>
              <a:r>
                <a:rPr lang="en-US" sz="2546">
                  <a:solidFill>
                    <a:srgbClr val="1D495D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Detection occurs when the error rate exceeds the industry-standard 11% security threshold.</a:t>
              </a:r>
            </a:p>
            <a:p>
              <a:pPr algn="l">
                <a:lnSpc>
                  <a:spcPts val="4073"/>
                </a:lnSpc>
              </a:pPr>
            </a:p>
            <a:p>
              <a:pPr algn="l" marL="549698" indent="-274849" lvl="1">
                <a:lnSpc>
                  <a:spcPts val="4073"/>
                </a:lnSpc>
                <a:buFont typeface="Arial"/>
                <a:buChar char="•"/>
              </a:pPr>
              <a:r>
                <a:rPr lang="en-US" b="true" sz="2546">
                  <a:solidFill>
                    <a:srgbClr val="1D495D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Constraints:</a:t>
              </a:r>
              <a:r>
                <a:rPr lang="en-US" sz="2546">
                  <a:solidFill>
                    <a:srgbClr val="1D495D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The message must be prepared in a non-orthogonal state (using H + P gates) so it remains "unknown" to the attacker.</a:t>
              </a:r>
            </a:p>
            <a:p>
              <a:pPr algn="l" marL="549698" indent="-274849" lvl="1">
                <a:lnSpc>
                  <a:spcPts val="4073"/>
                </a:lnSpc>
                <a:buFont typeface="Arial"/>
                <a:buChar char="•"/>
              </a:pPr>
              <a:r>
                <a:rPr lang="en-US" sz="2546">
                  <a:solidFill>
                    <a:srgbClr val="1D495D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Entanglement creates detectable noise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118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B7A7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Imp</a:t>
            </a:r>
            <a:r>
              <a:rPr lang="en-US" sz="8000">
                <a:solidFill>
                  <a:srgbClr val="23B7A7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lementation Strategy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1541" y="1844528"/>
            <a:ext cx="16504918" cy="7413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0428" indent="-350214" lvl="1">
              <a:lnSpc>
                <a:spcPts val="4541"/>
              </a:lnSpc>
              <a:buFont typeface="Arial"/>
              <a:buChar char="•"/>
            </a:pPr>
            <a:r>
              <a:rPr lang="en-US" b="true" sz="32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Framework: </a:t>
            </a:r>
            <a:r>
              <a:rPr lang="en-US" sz="32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with Qiskit using the BasicProvider for consistent, cross-platform simulation.</a:t>
            </a:r>
          </a:p>
          <a:p>
            <a:pPr algn="just">
              <a:lnSpc>
                <a:spcPts val="4541"/>
              </a:lnSpc>
            </a:pPr>
          </a:p>
          <a:p>
            <a:pPr algn="just" marL="700428" indent="-350214" lvl="1">
              <a:lnSpc>
                <a:spcPts val="4541"/>
              </a:lnSpc>
              <a:buFont typeface="Arial"/>
              <a:buChar char="•"/>
            </a:pPr>
            <a:r>
              <a:rPr lang="en-US" b="true" sz="32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Protocol:</a:t>
            </a:r>
          </a:p>
          <a:p>
            <a:pPr algn="just" marL="1400855" indent="-466952" lvl="2">
              <a:lnSpc>
                <a:spcPts val="4541"/>
              </a:lnSpc>
              <a:buFont typeface="Arial"/>
              <a:buChar char="⚬"/>
            </a:pPr>
            <a:r>
              <a:rPr lang="en-US" sz="32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Alice: Encodes a message using a Phase (P) gate at pi/4.</a:t>
            </a:r>
          </a:p>
          <a:p>
            <a:pPr algn="just" marL="1400855" indent="-466952" lvl="2">
              <a:lnSpc>
                <a:spcPts val="4541"/>
              </a:lnSpc>
              <a:buFont typeface="Arial"/>
              <a:buChar char="⚬"/>
            </a:pPr>
            <a:r>
              <a:rPr lang="en-US" sz="32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Eve: Attempts to clone the message using a CNOT gate, which unintentionally creates Entanglement instead of a copy.</a:t>
            </a:r>
          </a:p>
          <a:p>
            <a:pPr algn="just">
              <a:lnSpc>
                <a:spcPts val="4541"/>
              </a:lnSpc>
            </a:pPr>
          </a:p>
          <a:p>
            <a:pPr algn="just" marL="700428" indent="-350214" lvl="1">
              <a:lnSpc>
                <a:spcPts val="4541"/>
              </a:lnSpc>
              <a:buFont typeface="Arial"/>
              <a:buChar char="•"/>
            </a:pPr>
            <a:r>
              <a:rPr lang="en-US" b="true" sz="32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Barriers:</a:t>
            </a:r>
            <a:r>
              <a:rPr lang="en-US" sz="32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Used qc.barrier() to prevent simulator optimization, ensuring Eve's attack represents a realistic physical interception.</a:t>
            </a:r>
          </a:p>
          <a:p>
            <a:pPr algn="just">
              <a:lnSpc>
                <a:spcPts val="4541"/>
              </a:lnSpc>
            </a:pPr>
          </a:p>
          <a:p>
            <a:pPr algn="just">
              <a:lnSpc>
                <a:spcPts val="4541"/>
              </a:lnSpc>
            </a:pPr>
            <a:r>
              <a:rPr lang="en-US" sz="32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Link: </a:t>
            </a:r>
            <a:r>
              <a:rPr lang="en-US" sz="3244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github.com/Akshara-1/Visualizing_No_Cloning"/>
              </a:rPr>
              <a:t>https://github.com/Akshara-1/Visualizing_No_Cloning</a:t>
            </a:r>
          </a:p>
          <a:p>
            <a:pPr algn="just">
              <a:lnSpc>
                <a:spcPts val="454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750" y="3294240"/>
            <a:ext cx="7850259" cy="3728873"/>
          </a:xfrm>
          <a:custGeom>
            <a:avLst/>
            <a:gdLst/>
            <a:ahLst/>
            <a:cxnLst/>
            <a:rect r="r" b="b" t="t" l="l"/>
            <a:pathLst>
              <a:path h="3728873" w="7850259">
                <a:moveTo>
                  <a:pt x="0" y="0"/>
                </a:moveTo>
                <a:lnTo>
                  <a:pt x="7850259" y="0"/>
                </a:lnTo>
                <a:lnTo>
                  <a:pt x="7850259" y="3728873"/>
                </a:lnTo>
                <a:lnTo>
                  <a:pt x="0" y="3728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48587" y="419100"/>
            <a:ext cx="5534208" cy="3652577"/>
          </a:xfrm>
          <a:custGeom>
            <a:avLst/>
            <a:gdLst/>
            <a:ahLst/>
            <a:cxnLst/>
            <a:rect r="r" b="b" t="t" l="l"/>
            <a:pathLst>
              <a:path h="3652577" w="5534208">
                <a:moveTo>
                  <a:pt x="0" y="0"/>
                </a:moveTo>
                <a:lnTo>
                  <a:pt x="5534208" y="0"/>
                </a:lnTo>
                <a:lnTo>
                  <a:pt x="5534208" y="3652577"/>
                </a:lnTo>
                <a:lnTo>
                  <a:pt x="0" y="3652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80035" y="5329729"/>
            <a:ext cx="8471312" cy="3928571"/>
          </a:xfrm>
          <a:custGeom>
            <a:avLst/>
            <a:gdLst/>
            <a:ahLst/>
            <a:cxnLst/>
            <a:rect r="r" b="b" t="t" l="l"/>
            <a:pathLst>
              <a:path h="3928571" w="8471312">
                <a:moveTo>
                  <a:pt x="0" y="0"/>
                </a:moveTo>
                <a:lnTo>
                  <a:pt x="8471312" y="0"/>
                </a:lnTo>
                <a:lnTo>
                  <a:pt x="8471312" y="3928571"/>
                </a:lnTo>
                <a:lnTo>
                  <a:pt x="0" y="3928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695325"/>
            <a:ext cx="14077950" cy="118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B7A7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OUTPUTS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4230" y="7313943"/>
            <a:ext cx="8115300" cy="100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</a:pPr>
            <a:r>
              <a:rPr lang="en-US" sz="29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 1:</a:t>
            </a:r>
            <a:r>
              <a:rPr lang="en-US" sz="29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Comparative Histogram (Statistical Proof)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3228" y="4100252"/>
            <a:ext cx="5899567" cy="81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9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 2: QSphere (Global Mapping)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80035" y="9191625"/>
            <a:ext cx="84713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 3: QBER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3B7A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695325"/>
            <a:ext cx="14077950" cy="118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B7A7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Results and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20274"/>
            <a:ext cx="14733808" cy="629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400" indent="-328200" lvl="1">
              <a:lnSpc>
                <a:spcPts val="3344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"Attacked Channel" generated a error rate more than double the 11% Security Threshold.</a:t>
            </a:r>
          </a:p>
          <a:p>
            <a:pPr algn="l">
              <a:lnSpc>
                <a:spcPts val="3344"/>
              </a:lnSpc>
            </a:pPr>
          </a:p>
          <a:p>
            <a:pPr algn="l" marL="656400" indent="-328200" lvl="1">
              <a:lnSpc>
                <a:spcPts val="3344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Conclusion: The eavesdropping attempt is mathematically and physically impossible to hide.</a:t>
            </a:r>
          </a:p>
          <a:p>
            <a:pPr algn="l">
              <a:lnSpc>
                <a:spcPts val="3344"/>
              </a:lnSpc>
            </a:pPr>
          </a:p>
          <a:p>
            <a:pPr algn="l">
              <a:lnSpc>
                <a:spcPts val="3344"/>
              </a:lnSpc>
            </a:pPr>
            <a:r>
              <a:rPr lang="en-US" b="true" sz="30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Entanglement Trap</a:t>
            </a:r>
            <a:r>
              <a:rPr lang="en-US" sz="30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Eve’s attempt to copy the state via CNOT forced Alice’s qubit into a Bell-state entanglement.</a:t>
            </a:r>
          </a:p>
          <a:p>
            <a:pPr algn="l">
              <a:lnSpc>
                <a:spcPts val="3344"/>
              </a:lnSpc>
            </a:pPr>
          </a:p>
          <a:p>
            <a:pPr algn="l">
              <a:lnSpc>
                <a:spcPts val="3344"/>
              </a:lnSpc>
            </a:pPr>
            <a:r>
              <a:rPr lang="en-US" b="true" sz="30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Practical Feasibility:</a:t>
            </a:r>
            <a:r>
              <a:rPr lang="en-US" sz="30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Proves that quantum-secured channels (like those needed for Banking or Aadhaar operations) are self-auditing.</a:t>
            </a:r>
          </a:p>
          <a:p>
            <a:pPr algn="l">
              <a:lnSpc>
                <a:spcPts val="3344"/>
              </a:lnSpc>
            </a:pPr>
          </a:p>
          <a:p>
            <a:pPr algn="l">
              <a:lnSpc>
                <a:spcPts val="3344"/>
              </a:lnSpc>
            </a:pPr>
            <a:r>
              <a:rPr lang="en-US" b="true" sz="30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Limitation:</a:t>
            </a:r>
            <a:r>
              <a:rPr lang="en-US" sz="30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While 100% accurate in a simulator, real hardware noise would require Error Mitigation to distinguish "Eve" from "Decoherence"</a:t>
            </a:r>
          </a:p>
          <a:p>
            <a:pPr algn="l">
              <a:lnSpc>
                <a:spcPts val="334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Visualizing the No-Cloning Theorem</dc:description>
  <dc:identifier>DAHCofmFNNQ</dc:identifier>
  <dcterms:modified xsi:type="dcterms:W3CDTF">2011-08-01T06:04:30Z</dcterms:modified>
  <cp:revision>1</cp:revision>
  <dc:title>Presentation - Visualizing the No-Cloning Theorem</dc:title>
</cp:coreProperties>
</file>